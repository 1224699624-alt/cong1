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880"/>
        <p:guide pos="5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60400" y="584200"/>
            <a:ext cx="4572000" cy="2457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300" b="1">
                <a:solidFill>
                  <a:srgbClr val="5F5F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YOLO+SAM </a:t>
            </a:r>
            <a:r>
              <a:rPr lang="zh-CN" altLang="en-US" sz="1300" b="1">
                <a:solidFill>
                  <a:srgbClr val="5F5F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骨骺分割项目汇报</a:t>
            </a:r>
            <a:endParaRPr lang="zh-CN" altLang="en-US" sz="1300" b="1">
              <a:solidFill>
                <a:srgbClr val="5F5F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0400" y="1905000"/>
            <a:ext cx="9144000" cy="9994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62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从拓扑保持到骨缝分离</a:t>
            </a:r>
            <a:endParaRPr lang="zh-CN" altLang="en-US" sz="6200" b="1">
              <a:solidFill>
                <a:srgbClr val="00000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3886200"/>
            <a:ext cx="8255000" cy="11531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400">
                <a:solidFill>
                  <a:srgbClr val="50505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借鉴</a:t>
            </a:r>
            <a:r>
              <a:rPr lang="en-US" altLang="zh-CN" sz="2400">
                <a:solidFill>
                  <a:srgbClr val="50505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Topology-Preserving Image Segmentation with Spatial-Aware Persistent Feature Matching </a:t>
            </a:r>
            <a:r>
              <a:rPr lang="zh-CN" altLang="en-US" sz="2400">
                <a:solidFill>
                  <a:srgbClr val="50505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的结构一致性思想</a:t>
            </a:r>
            <a:endParaRPr lang="zh-CN" altLang="en-US" sz="2400">
              <a:solidFill>
                <a:srgbClr val="50505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" y="5715000"/>
            <a:ext cx="6096000" cy="1016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6223000"/>
            <a:ext cx="8763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9191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目标：保持</a:t>
            </a:r>
            <a:r>
              <a:rPr lang="en-US" altLang="zh-CN" sz="2100" b="1">
                <a:solidFill>
                  <a:srgbClr val="19191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Dice/IoU </a:t>
            </a:r>
            <a:r>
              <a:rPr lang="zh-CN" altLang="en-US" sz="2100" b="1">
                <a:solidFill>
                  <a:srgbClr val="19191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竞争力，同时减少骨缝粘连、误连接和边界错误。</a:t>
            </a:r>
            <a:endParaRPr lang="zh-CN" altLang="en-US" sz="2100" b="1">
              <a:solidFill>
                <a:srgbClr val="191919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87000" y="1460500"/>
            <a:ext cx="4635500" cy="52070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01_road_segmentation_satloss_cell008_out01_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00" y="2400300"/>
            <a:ext cx="4000500" cy="1370330"/>
          </a:xfrm>
          <a:prstGeom prst="rect">
            <a:avLst/>
          </a:prstGeom>
        </p:spPr>
      </p:pic>
      <p:pic>
        <p:nvPicPr>
          <p:cNvPr id="9" name="图片 8" descr="04_drive_retinal_vessel_transfer_learning_cell003_out01_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0" y="4631690"/>
            <a:ext cx="4000500" cy="10864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604500" y="6045200"/>
            <a:ext cx="40005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1200">
                <a:solidFill>
                  <a:srgbClr val="4B4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论文示例：道路</a:t>
            </a:r>
            <a:r>
              <a:rPr lang="en-US" altLang="zh-CN" sz="1200">
                <a:solidFill>
                  <a:srgbClr val="4B4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r>
              <a:rPr lang="zh-CN" altLang="en-US" sz="1200">
                <a:solidFill>
                  <a:srgbClr val="4B4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血管等细长结构强调拓扑连续性</a:t>
            </a:r>
            <a:endParaRPr lang="zh-CN" altLang="en-US" sz="1200">
              <a:solidFill>
                <a:srgbClr val="4B4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" y="8763000"/>
            <a:ext cx="8890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YOLO+SAM Epiphysis Segmentation | Topology Borrowing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113000" y="8763000"/>
            <a:ext cx="508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1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406400"/>
            <a:ext cx="44450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200" b="1">
                <a:solidFill>
                  <a:srgbClr val="5F5F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Topology Borrowing</a:t>
            </a:r>
            <a:endParaRPr lang="en-US" altLang="en-US" sz="1200" b="1">
              <a:solidFill>
                <a:srgbClr val="5F5F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838200"/>
            <a:ext cx="10795000" cy="5683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3400" b="1">
                <a:solidFill>
                  <a:srgbClr val="0A0A0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这篇工作的价值在于把结构错误放到训练目标里</a:t>
            </a:r>
            <a:endParaRPr lang="zh-CN" altLang="en-US" sz="3400" b="1">
              <a:solidFill>
                <a:srgbClr val="0A0A0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600200"/>
            <a:ext cx="15036800" cy="19050"/>
          </a:xfrm>
          <a:prstGeom prst="rect">
            <a:avLst/>
          </a:prstGeom>
          <a:solidFill>
            <a:srgbClr val="BEBE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62000" y="1968500"/>
            <a:ext cx="4318000" cy="31115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62000" y="1968500"/>
            <a:ext cx="76200" cy="31115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2197100"/>
            <a:ext cx="3810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41414"/>
                </a:solidFill>
                <a:latin typeface="Microsoft YaHei UI" panose="020B0503020204020204" charset="-122"/>
                <a:ea typeface="Microsoft YaHei UI" panose="020B0503020204020204" charset="-122"/>
              </a:rPr>
              <a:t>传统分割的盲点</a:t>
            </a:r>
            <a:endParaRPr lang="zh-CN" altLang="en-US" sz="2100" b="1">
              <a:solidFill>
                <a:srgbClr val="14141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1400" y="2705100"/>
            <a:ext cx="3759200" cy="89154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Dice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和</a:t>
            </a: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IoU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可以很高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细长结构仍可能断裂或误连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结构错误会影响下游判断</a:t>
            </a:r>
            <a:endParaRPr lang="zh-CN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69000" y="1968500"/>
            <a:ext cx="4318000" cy="31115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969000" y="1968500"/>
            <a:ext cx="76200" cy="3111500"/>
          </a:xfrm>
          <a:prstGeom prst="rect">
            <a:avLst/>
          </a:prstGeom>
          <a:solidFill>
            <a:srgbClr val="2663E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48400" y="2197100"/>
            <a:ext cx="3810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4141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论文提供的启发</a:t>
            </a:r>
            <a:endParaRPr lang="zh-CN" altLang="en-US" sz="2100" b="1">
              <a:solidFill>
                <a:srgbClr val="14141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48400" y="2705100"/>
            <a:ext cx="3759200" cy="89154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用</a:t>
            </a: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persistent homology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描述连通与孔洞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用空间感知匹配约束拓扑特征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把拓扑一致性作为显式监督</a:t>
            </a:r>
            <a:endParaRPr lang="zh-CN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76000" y="1968500"/>
            <a:ext cx="4318000" cy="31115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176000" y="1968500"/>
            <a:ext cx="76200" cy="31115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455400" y="2197100"/>
            <a:ext cx="3810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4141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迁移到骨骺任务</a:t>
            </a:r>
            <a:endParaRPr lang="zh-CN" altLang="en-US" sz="2100" b="1">
              <a:solidFill>
                <a:srgbClr val="14141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455400" y="2705100"/>
            <a:ext cx="3759200" cy="89154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我们关心的不是血管</a:t>
            </a: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道路连通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而是骨缝背景是否连通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拓扑约束方向需要反过来</a:t>
            </a:r>
            <a:endParaRPr lang="zh-CN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9800" y="5461000"/>
            <a:ext cx="14224000" cy="1397000"/>
          </a:xfrm>
          <a:prstGeom prst="rect">
            <a:avLst/>
          </a:prstGeom>
          <a:solidFill>
            <a:srgbClr val="FAFAFA"/>
          </a:solidFill>
          <a:ln>
            <a:solidFill>
              <a:srgbClr val="E1E1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01_road_segmentation_satloss_cell008_out01_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765" y="5651500"/>
            <a:ext cx="2667635" cy="914400"/>
          </a:xfrm>
          <a:prstGeom prst="rect">
            <a:avLst/>
          </a:prstGeom>
        </p:spPr>
      </p:pic>
      <p:pic>
        <p:nvPicPr>
          <p:cNvPr id="19" name="图片 18" descr="02_crack_segmentation_cldice_satloss_cell031_out00_0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205" y="5651500"/>
            <a:ext cx="2052955" cy="914400"/>
          </a:xfrm>
          <a:prstGeom prst="rect">
            <a:avLst/>
          </a:prstGeom>
        </p:spPr>
      </p:pic>
      <p:pic>
        <p:nvPicPr>
          <p:cNvPr id="20" name="图片 19" descr="03_celegans_transfer_learning_cell004_out01_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00" y="5683885"/>
            <a:ext cx="3175000" cy="848360"/>
          </a:xfrm>
          <a:prstGeom prst="rect">
            <a:avLst/>
          </a:prstGeom>
        </p:spPr>
      </p:pic>
      <p:pic>
        <p:nvPicPr>
          <p:cNvPr id="21" name="图片 20" descr="04_drive_retinal_vessel_transfer_learning_cell003_out01_0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9700" y="5676900"/>
            <a:ext cx="3175000" cy="86233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168400" y="6604000"/>
            <a:ext cx="3175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000" b="1">
                <a:solidFill>
                  <a:srgbClr val="555555"/>
                </a:solidFill>
                <a:latin typeface="Microsoft YaHei UI" panose="020B0503020204020204" charset="-122"/>
                <a:ea typeface="Microsoft YaHei UI" panose="020B0503020204020204" charset="-122"/>
              </a:rPr>
              <a:t>Road topology</a:t>
            </a:r>
            <a:endParaRPr lang="en-US" altLang="en-US" sz="1000" b="1">
              <a:solidFill>
                <a:srgbClr val="55555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35500" y="6604000"/>
            <a:ext cx="3175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000" b="1">
                <a:solidFill>
                  <a:srgbClr val="555555"/>
                </a:solidFill>
                <a:latin typeface="Microsoft YaHei UI" panose="020B0503020204020204" charset="-122"/>
                <a:ea typeface="Microsoft YaHei UI" panose="020B0503020204020204" charset="-122"/>
              </a:rPr>
              <a:t>Crack connectivity</a:t>
            </a:r>
            <a:endParaRPr lang="en-US" altLang="en-US" sz="1000" b="1">
              <a:solidFill>
                <a:srgbClr val="55555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102600" y="6604000"/>
            <a:ext cx="3175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000" b="1">
                <a:solidFill>
                  <a:srgbClr val="555555"/>
                </a:solidFill>
                <a:latin typeface="Microsoft YaHei UI" panose="020B0503020204020204" charset="-122"/>
                <a:ea typeface="Microsoft YaHei UI" panose="020B0503020204020204" charset="-122"/>
              </a:rPr>
              <a:t>C. elegans transfer</a:t>
            </a:r>
            <a:endParaRPr lang="en-US" altLang="en-US" sz="1000" b="1">
              <a:solidFill>
                <a:srgbClr val="55555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569700" y="6604000"/>
            <a:ext cx="3175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000" b="1">
                <a:solidFill>
                  <a:srgbClr val="555555"/>
                </a:solidFill>
                <a:latin typeface="Microsoft YaHei UI" panose="020B0503020204020204" charset="-122"/>
                <a:ea typeface="Microsoft YaHei UI" panose="020B0503020204020204" charset="-122"/>
              </a:rPr>
              <a:t>Retinal vessels</a:t>
            </a:r>
            <a:endParaRPr lang="en-US" altLang="en-US" sz="1000" b="1">
              <a:solidFill>
                <a:srgbClr val="55555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39800" y="7213600"/>
            <a:ext cx="13970000" cy="38417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2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核心结论：论文的保持结构不是照搬</a:t>
            </a:r>
            <a:r>
              <a:rPr lang="en-US" altLang="zh-CN" sz="22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loss</a:t>
            </a:r>
            <a:r>
              <a:rPr lang="zh-CN" altLang="en-US" sz="22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，而是启发我们定义更贴近骨缝失败模式的拓扑目标。</a:t>
            </a:r>
            <a:endParaRPr lang="zh-CN" altLang="en-US" sz="2200" b="1">
              <a:solidFill>
                <a:srgbClr val="00000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9600" y="8763000"/>
            <a:ext cx="8890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YOLO+SAM Epiphysis Segmentation | Topology Borrowing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5113000" y="8763000"/>
            <a:ext cx="508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2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406400"/>
            <a:ext cx="44450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200" b="1">
                <a:solidFill>
                  <a:srgbClr val="5F5F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Topology Borrowing</a:t>
            </a:r>
            <a:endParaRPr lang="en-US" altLang="en-US" sz="1200" b="1">
              <a:solidFill>
                <a:srgbClr val="5F5F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838200"/>
            <a:ext cx="10795000" cy="5683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3400" b="1">
                <a:solidFill>
                  <a:srgbClr val="0A0A0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论文方法围绕拓扑特征匹配，而不是只优化像素重叠</a:t>
            </a:r>
            <a:endParaRPr lang="zh-CN" altLang="en-US" sz="3400" b="1">
              <a:solidFill>
                <a:srgbClr val="0A0A0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600200"/>
            <a:ext cx="15036800" cy="19050"/>
          </a:xfrm>
          <a:prstGeom prst="rect">
            <a:avLst/>
          </a:prstGeom>
          <a:solidFill>
            <a:srgbClr val="BEBE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87400" y="2032000"/>
            <a:ext cx="6096000" cy="4457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6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方法组成</a:t>
            </a:r>
            <a:endParaRPr lang="zh-CN" altLang="en-US" sz="2600" b="1">
              <a:solidFill>
                <a:srgbClr val="00000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87400" y="2794000"/>
            <a:ext cx="3111500" cy="14732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16000" y="2971800"/>
            <a:ext cx="889000" cy="214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100" b="1">
                <a:solidFill>
                  <a:srgbClr val="5A5A5A"/>
                </a:solidFill>
                <a:latin typeface="Microsoft YaHei UI" panose="020B0503020204020204" charset="-122"/>
                <a:ea typeface="Microsoft YaHei UI" panose="020B0503020204020204" charset="-122"/>
              </a:rPr>
              <a:t>1</a:t>
            </a:r>
            <a:endParaRPr lang="en-US" altLang="en-US" sz="1100" b="1">
              <a:solidFill>
                <a:srgbClr val="5A5A5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6000" y="3251200"/>
            <a:ext cx="26543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b="1">
                <a:solidFill>
                  <a:srgbClr val="0F0F0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像素监督</a:t>
            </a:r>
            <a:endParaRPr lang="zh-CN" altLang="en-US" b="1">
              <a:solidFill>
                <a:srgbClr val="0F0F0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6000" y="3657600"/>
            <a:ext cx="26543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200">
                <a:solidFill>
                  <a:srgbClr val="3C3C3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BCE / Dice </a:t>
            </a:r>
            <a:r>
              <a:rPr lang="zh-CN" altLang="en-US" sz="1200">
                <a:solidFill>
                  <a:srgbClr val="3C3C3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提供区域重叠与分类基础</a:t>
            </a:r>
            <a:endParaRPr lang="zh-CN" altLang="en-US" sz="1200">
              <a:solidFill>
                <a:srgbClr val="3C3C3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279900" y="2794000"/>
            <a:ext cx="3111500" cy="14732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508500" y="2971800"/>
            <a:ext cx="889000" cy="214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100" b="1">
                <a:solidFill>
                  <a:srgbClr val="5A5A5A"/>
                </a:solidFill>
                <a:latin typeface="Microsoft YaHei UI" panose="020B0503020204020204" charset="-122"/>
                <a:ea typeface="Microsoft YaHei UI" panose="020B0503020204020204" charset="-122"/>
              </a:rPr>
              <a:t>2</a:t>
            </a:r>
            <a:endParaRPr lang="en-US" altLang="en-US" sz="1100" b="1">
              <a:solidFill>
                <a:srgbClr val="5A5A5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08500" y="3251200"/>
            <a:ext cx="26543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b="1">
                <a:solidFill>
                  <a:srgbClr val="0F0F0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骨架连通</a:t>
            </a:r>
            <a:endParaRPr lang="zh-CN" altLang="en-US" b="1">
              <a:solidFill>
                <a:srgbClr val="0F0F0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08500" y="3657600"/>
            <a:ext cx="26543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200">
                <a:solidFill>
                  <a:srgbClr val="3C3C3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clDice </a:t>
            </a:r>
            <a:r>
              <a:rPr lang="zh-CN" altLang="en-US" sz="1200">
                <a:solidFill>
                  <a:srgbClr val="3C3C3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关注中心线与细长结构连续性</a:t>
            </a:r>
            <a:endParaRPr lang="zh-CN" altLang="en-US" sz="1200">
              <a:solidFill>
                <a:srgbClr val="3C3C3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772400" y="2794000"/>
            <a:ext cx="3111500" cy="14732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001000" y="2971800"/>
            <a:ext cx="889000" cy="214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100" b="1">
                <a:solidFill>
                  <a:srgbClr val="5A5A5A"/>
                </a:solidFill>
                <a:latin typeface="Microsoft YaHei UI" panose="020B0503020204020204" charset="-122"/>
                <a:ea typeface="Microsoft YaHei UI" panose="020B0503020204020204" charset="-122"/>
              </a:rPr>
              <a:t>3</a:t>
            </a:r>
            <a:endParaRPr lang="en-US" altLang="en-US" sz="1100" b="1">
              <a:solidFill>
                <a:srgbClr val="5A5A5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001000" y="3251200"/>
            <a:ext cx="26543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b="1">
                <a:solidFill>
                  <a:srgbClr val="0F0F0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拓扑监督</a:t>
            </a:r>
            <a:endParaRPr lang="zh-CN" altLang="en-US" b="1">
              <a:solidFill>
                <a:srgbClr val="0F0F0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01000" y="3657600"/>
            <a:ext cx="26543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200">
                <a:solidFill>
                  <a:srgbClr val="3C3C3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Persistent homology </a:t>
            </a:r>
            <a:r>
              <a:rPr lang="zh-CN" altLang="en-US" sz="1200">
                <a:solidFill>
                  <a:srgbClr val="3C3C3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提取连通分量和孔洞</a:t>
            </a:r>
            <a:endParaRPr lang="zh-CN" altLang="en-US" sz="1200">
              <a:solidFill>
                <a:srgbClr val="3C3C3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1264900" y="2794000"/>
            <a:ext cx="3111500" cy="14732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493500" y="2971800"/>
            <a:ext cx="889000" cy="214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100" b="1">
                <a:solidFill>
                  <a:srgbClr val="5A5A5A"/>
                </a:solidFill>
                <a:latin typeface="Microsoft YaHei UI" panose="020B0503020204020204" charset="-122"/>
                <a:ea typeface="Microsoft YaHei UI" panose="020B0503020204020204" charset="-122"/>
              </a:rPr>
              <a:t>4</a:t>
            </a:r>
            <a:endParaRPr lang="en-US" altLang="en-US" sz="1100" b="1">
              <a:solidFill>
                <a:srgbClr val="5A5A5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493500" y="3251200"/>
            <a:ext cx="26543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b="1">
                <a:solidFill>
                  <a:srgbClr val="0F0F0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空间匹配</a:t>
            </a:r>
            <a:endParaRPr lang="zh-CN" altLang="en-US" b="1">
              <a:solidFill>
                <a:srgbClr val="0F0F0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493500" y="3657600"/>
            <a:ext cx="26543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200">
                <a:solidFill>
                  <a:srgbClr val="3C3C3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SATLoss </a:t>
            </a:r>
            <a:r>
              <a:rPr lang="zh-CN" altLang="en-US" sz="1200">
                <a:solidFill>
                  <a:srgbClr val="3C3C3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用位置约束匹配拓扑特征</a:t>
            </a:r>
            <a:endParaRPr lang="zh-CN" altLang="en-US" sz="1200">
              <a:solidFill>
                <a:srgbClr val="3C3C3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93800" y="4851400"/>
            <a:ext cx="5969000" cy="1168400"/>
          </a:xfrm>
          <a:prstGeom prst="rect">
            <a:avLst/>
          </a:prstGeom>
          <a:solidFill>
            <a:srgbClr val="FFF7ED"/>
          </a:solidFill>
          <a:ln>
            <a:solidFill>
              <a:srgbClr val="FF6B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524000" y="5143500"/>
            <a:ext cx="5334000" cy="39941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23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L = BCE + Dice + clDice + SATLoss</a:t>
            </a:r>
            <a:endParaRPr lang="en-US" altLang="en-US" sz="2300" b="1">
              <a:solidFill>
                <a:srgbClr val="00000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524000" y="5562600"/>
            <a:ext cx="52070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1400">
                <a:solidFill>
                  <a:srgbClr val="505050"/>
                </a:solidFill>
                <a:latin typeface="Microsoft YaHei UI" panose="020B0503020204020204" charset="-122"/>
                <a:ea typeface="Microsoft YaHei UI" panose="020B0503020204020204" charset="-122"/>
              </a:rPr>
              <a:t>像素、区域、骨架、拓扑同时进入训练目标</a:t>
            </a:r>
            <a:endParaRPr lang="zh-CN" altLang="en-US" sz="1400">
              <a:solidFill>
                <a:srgbClr val="50505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25" name="图片 24" descr="01_road_segmentation_satloss_cell048_out00_0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3170" y="4724400"/>
            <a:ext cx="2612390" cy="1968500"/>
          </a:xfrm>
          <a:prstGeom prst="rect">
            <a:avLst/>
          </a:prstGeom>
          <a:ln w="12700">
            <a:solidFill>
              <a:srgbClr val="D2D2D2"/>
            </a:solidFill>
          </a:ln>
        </p:spPr>
      </p:pic>
      <p:sp>
        <p:nvSpPr>
          <p:cNvPr id="26" name="文本框 25"/>
          <p:cNvSpPr txBox="1"/>
          <p:nvPr/>
        </p:nvSpPr>
        <p:spPr>
          <a:xfrm>
            <a:off x="8255000" y="6794500"/>
            <a:ext cx="63500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1200">
                <a:solidFill>
                  <a:srgbClr val="5A5A5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论文实验图：不同损失下的结构连续性对比</a:t>
            </a:r>
            <a:endParaRPr lang="zh-CN" altLang="en-US" sz="1200">
              <a:solidFill>
                <a:srgbClr val="5A5A5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92200" y="7302500"/>
            <a:ext cx="13716000" cy="38417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2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可借鉴的不是某个单独公式，而是评价方式的转变：从像素是否重叠，扩展到预测结构是否符合任务拓扑。</a:t>
            </a:r>
            <a:endParaRPr lang="zh-CN" altLang="en-US" sz="2200" b="1">
              <a:solidFill>
                <a:srgbClr val="00000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9600" y="8763000"/>
            <a:ext cx="8890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YOLO+SAM Epiphysis Segmentation | Topology Borrowing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5113000" y="8763000"/>
            <a:ext cx="508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3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406400"/>
            <a:ext cx="44450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200" b="1">
                <a:solidFill>
                  <a:srgbClr val="5F5F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Topology Borrowing</a:t>
            </a:r>
            <a:endParaRPr lang="en-US" altLang="en-US" sz="1200" b="1">
              <a:solidFill>
                <a:srgbClr val="5F5F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838200"/>
            <a:ext cx="10795000" cy="5683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3400" b="1">
                <a:solidFill>
                  <a:srgbClr val="0A0A0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直接鼓励前景连通，可能会加重骨缝粘连</a:t>
            </a:r>
            <a:endParaRPr lang="zh-CN" altLang="en-US" sz="3400" b="1">
              <a:solidFill>
                <a:srgbClr val="0A0A0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600200"/>
            <a:ext cx="15036800" cy="19050"/>
          </a:xfrm>
          <a:prstGeom prst="rect">
            <a:avLst/>
          </a:prstGeom>
          <a:solidFill>
            <a:srgbClr val="BEBE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89000" y="1968500"/>
            <a:ext cx="6350000" cy="31750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89000" y="1968500"/>
            <a:ext cx="76200" cy="3175000"/>
          </a:xfrm>
          <a:prstGeom prst="rect">
            <a:avLst/>
          </a:prstGeom>
          <a:solidFill>
            <a:srgbClr val="2663E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68400" y="2197100"/>
            <a:ext cx="5842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4141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论文原始场景</a:t>
            </a:r>
            <a:endParaRPr lang="zh-CN" altLang="en-US" sz="2100" b="1">
              <a:solidFill>
                <a:srgbClr val="14141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68400" y="2705100"/>
            <a:ext cx="5791200" cy="89154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道路、裂纹、血管是连续细长前景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断裂是主要错误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拓扑目标通常鼓励前景连通</a:t>
            </a:r>
            <a:endParaRPr lang="zh-CN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17000" y="1968500"/>
            <a:ext cx="6350000" cy="31750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017000" y="1968500"/>
            <a:ext cx="76200" cy="31750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296400" y="2197100"/>
            <a:ext cx="5842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41414"/>
                </a:solidFill>
                <a:latin typeface="Microsoft YaHei UI" panose="020B0503020204020204" charset="-122"/>
                <a:ea typeface="Microsoft YaHei UI" panose="020B0503020204020204" charset="-122"/>
              </a:rPr>
              <a:t>骨骺分割场景</a:t>
            </a:r>
            <a:endParaRPr lang="zh-CN" altLang="en-US" sz="2100" b="1">
              <a:solidFill>
                <a:srgbClr val="14141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296400" y="2705100"/>
            <a:ext cx="5791200" cy="89154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相邻骨之间应由背景骨缝隔开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误连是主要错误之一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盲目保持前景连通会把粘连固化</a:t>
            </a:r>
            <a:endParaRPr lang="zh-CN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13" name="图片 12" descr="02_crack_segmentation_cldice_satloss_cell031_out00_0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280" y="5461000"/>
            <a:ext cx="2224405" cy="990600"/>
          </a:xfrm>
          <a:prstGeom prst="rect">
            <a:avLst/>
          </a:prstGeom>
          <a:ln w="12700">
            <a:solidFill>
              <a:srgbClr val="D2D2D2"/>
            </a:solidFill>
          </a:ln>
        </p:spPr>
      </p:pic>
      <p:pic>
        <p:nvPicPr>
          <p:cNvPr id="14" name="图片 13" descr="04_drive_retinal_vessel_transfer_learning_cell003_out01_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0" y="5610860"/>
            <a:ext cx="2540000" cy="689610"/>
          </a:xfrm>
          <a:prstGeom prst="rect">
            <a:avLst/>
          </a:prstGeom>
          <a:ln w="12700">
            <a:solidFill>
              <a:srgbClr val="D2D2D2"/>
            </a:solidFill>
          </a:ln>
        </p:spPr>
      </p:pic>
      <p:sp>
        <p:nvSpPr>
          <p:cNvPr id="15" name="椭圆 14"/>
          <p:cNvSpPr/>
          <p:nvPr/>
        </p:nvSpPr>
        <p:spPr>
          <a:xfrm>
            <a:off x="10033000" y="5524500"/>
            <a:ext cx="1524000" cy="1168400"/>
          </a:xfrm>
          <a:prstGeom prst="ellipse">
            <a:avLst/>
          </a:prstGeom>
          <a:solidFill>
            <a:srgbClr val="23232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2573000" y="5524500"/>
            <a:ext cx="1524000" cy="1168400"/>
          </a:xfrm>
          <a:prstGeom prst="ellipse">
            <a:avLst/>
          </a:prstGeom>
          <a:solidFill>
            <a:srgbClr val="23232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1430000" y="5943600"/>
            <a:ext cx="1333500" cy="279400"/>
          </a:xfrm>
          <a:prstGeom prst="rect">
            <a:avLst/>
          </a:prstGeom>
          <a:solidFill>
            <a:srgbClr val="23232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969500" y="6731000"/>
            <a:ext cx="41910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1400" b="1">
                <a:solidFill>
                  <a:srgbClr val="DC2626"/>
                </a:solidFill>
                <a:latin typeface="Microsoft YaHei UI" panose="020B0503020204020204" charset="-122"/>
                <a:ea typeface="Microsoft YaHei UI" panose="020B0503020204020204" charset="-122"/>
              </a:rPr>
              <a:t>错误借鉴会把相邻骨粘成一个前景连通块</a:t>
            </a:r>
            <a:endParaRPr lang="zh-CN" altLang="en-US" sz="1400" b="1">
              <a:solidFill>
                <a:srgbClr val="DC2626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19200" y="7112000"/>
            <a:ext cx="134620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5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所以我们的借鉴方向是反向拓扑：不奖励骨头连在一起，而奖励骨缝背景通道保持连通。</a:t>
            </a:r>
            <a:endParaRPr lang="zh-CN" altLang="en-US" sz="2500" b="1">
              <a:solidFill>
                <a:srgbClr val="00000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9600" y="8763000"/>
            <a:ext cx="8890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YOLO+SAM Epiphysis Segmentation | Topology Borrowing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113000" y="8763000"/>
            <a:ext cx="508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4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406400"/>
            <a:ext cx="44450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200" b="1">
                <a:solidFill>
                  <a:srgbClr val="5F5F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Topology Borrowing</a:t>
            </a:r>
            <a:endParaRPr lang="en-US" altLang="en-US" sz="1200" b="1">
              <a:solidFill>
                <a:srgbClr val="5F5F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838200"/>
            <a:ext cx="10795000" cy="5683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3400" b="1">
                <a:solidFill>
                  <a:srgbClr val="0A0A0A"/>
                </a:solidFill>
                <a:latin typeface="Microsoft YaHei UI" panose="020B0503020204020204" charset="-122"/>
                <a:ea typeface="Microsoft YaHei UI" panose="020B0503020204020204" charset="-122"/>
              </a:rPr>
              <a:t>我们把拓扑目标从前景连通翻转为背景通道连通</a:t>
            </a:r>
            <a:endParaRPr lang="zh-CN" altLang="en-US" sz="3400" b="1">
              <a:solidFill>
                <a:srgbClr val="0A0A0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600200"/>
            <a:ext cx="15036800" cy="19050"/>
          </a:xfrm>
          <a:prstGeom prst="rect">
            <a:avLst/>
          </a:prstGeom>
          <a:solidFill>
            <a:srgbClr val="BEBE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6000" y="2286000"/>
            <a:ext cx="5969000" cy="4191000"/>
          </a:xfrm>
          <a:prstGeom prst="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271000" y="2286000"/>
            <a:ext cx="5969000" cy="4191000"/>
          </a:xfrm>
          <a:prstGeom prst="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71600" y="2603500"/>
            <a:ext cx="50800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4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前景拓扑保持</a:t>
            </a:r>
            <a:endParaRPr lang="zh-CN" altLang="en-US" sz="2400" b="1">
              <a:solidFill>
                <a:srgbClr val="00000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26600" y="2603500"/>
            <a:ext cx="50800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4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骨缝背景连通</a:t>
            </a:r>
            <a:endParaRPr lang="zh-CN" altLang="en-US" sz="2400" b="1">
              <a:solidFill>
                <a:srgbClr val="00000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159000" y="3708400"/>
            <a:ext cx="1524000" cy="1524000"/>
          </a:xfrm>
          <a:prstGeom prst="ellipse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000500" y="3708400"/>
            <a:ext cx="1524000" cy="1524000"/>
          </a:xfrm>
          <a:prstGeom prst="ellipse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365500" y="4381500"/>
            <a:ext cx="1270000" cy="3556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98600" y="5651500"/>
            <a:ext cx="4826000" cy="30670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1700">
                <a:solidFill>
                  <a:srgbClr val="505050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适合血管、道路、裂纹：断裂需要被修复</a:t>
            </a:r>
            <a:endParaRPr lang="zh-CN" altLang="en-US" sz="1700">
              <a:solidFill>
                <a:srgbClr val="50505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414000" y="3708400"/>
            <a:ext cx="1524000" cy="1524000"/>
          </a:xfrm>
          <a:prstGeom prst="ellipse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2573000" y="3708400"/>
            <a:ext cx="1524000" cy="1524000"/>
          </a:xfrm>
          <a:prstGeom prst="ellipse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988800" y="3429000"/>
            <a:ext cx="279400" cy="215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753600" y="5651500"/>
            <a:ext cx="4953000" cy="30670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1700">
                <a:solidFill>
                  <a:srgbClr val="505050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适合骨骺：骨缝应作为背景通道把相邻骨分开</a:t>
            </a:r>
            <a:endParaRPr lang="zh-CN" altLang="en-US" sz="1700">
              <a:solidFill>
                <a:srgbClr val="50505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7429500" y="4381500"/>
            <a:ext cx="1460500" cy="635"/>
          </a:xfrm>
          <a:prstGeom prst="straightConnector1">
            <a:avLst/>
          </a:prstGeom>
          <a:ln w="38100">
            <a:solidFill>
              <a:srgbClr val="FF6B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366000" y="3873500"/>
            <a:ext cx="16510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b="1">
                <a:solidFill>
                  <a:srgbClr val="FF6B35"/>
                </a:solidFill>
                <a:latin typeface="Microsoft YaHei UI" panose="020B0503020204020204" charset="-122"/>
                <a:ea typeface="Microsoft YaHei UI" panose="020B0503020204020204" charset="-122"/>
              </a:rPr>
              <a:t>反向借鉴</a:t>
            </a:r>
            <a:endParaRPr lang="zh-CN" altLang="en-US" b="1">
              <a:solidFill>
                <a:srgbClr val="FF6B3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9600" y="8763000"/>
            <a:ext cx="8890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YOLO+SAM Epiphysis Segmentation | Topology Borrowing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5113000" y="8763000"/>
            <a:ext cx="508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5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406400"/>
            <a:ext cx="44450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200" b="1">
                <a:solidFill>
                  <a:srgbClr val="5F5F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Topology Borrowing</a:t>
            </a:r>
            <a:endParaRPr lang="en-US" altLang="en-US" sz="1200" b="1">
              <a:solidFill>
                <a:srgbClr val="5F5F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838200"/>
            <a:ext cx="10795000" cy="5683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3400" b="1">
                <a:solidFill>
                  <a:srgbClr val="0A0A0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评价指标也要从重叠指标扩展到失败模式诊断</a:t>
            </a:r>
            <a:endParaRPr lang="zh-CN" altLang="en-US" sz="3400" b="1">
              <a:solidFill>
                <a:srgbClr val="0A0A0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600200"/>
            <a:ext cx="15036800" cy="19050"/>
          </a:xfrm>
          <a:prstGeom prst="rect">
            <a:avLst/>
          </a:prstGeom>
          <a:solidFill>
            <a:srgbClr val="BEBE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62000" y="2095500"/>
            <a:ext cx="4445000" cy="48260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62000" y="2095500"/>
            <a:ext cx="76200" cy="4826000"/>
          </a:xfrm>
          <a:prstGeom prst="rect">
            <a:avLst/>
          </a:prstGeom>
          <a:solidFill>
            <a:srgbClr val="2663E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2324100"/>
            <a:ext cx="3937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41414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主表保持竞争力</a:t>
            </a:r>
            <a:endParaRPr lang="zh-CN" altLang="en-US" sz="2100" b="1">
              <a:solidFill>
                <a:srgbClr val="14141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1400" y="2832100"/>
            <a:ext cx="3886200" cy="119951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Dice</a:t>
            </a:r>
            <a:endParaRPr lang="en-US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IoU / Jaccard</a:t>
            </a:r>
            <a:endParaRPr lang="en-US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Precision / Recall</a:t>
            </a:r>
            <a:endParaRPr lang="en-US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目标：不明显低于</a:t>
            </a:r>
            <a:r>
              <a:rPr lang="zh-CN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ARAA/R110</a:t>
            </a:r>
            <a:endParaRPr lang="zh-CN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05500" y="2095500"/>
            <a:ext cx="4445000" cy="48260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905500" y="2095500"/>
            <a:ext cx="76200" cy="4826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184900" y="2324100"/>
            <a:ext cx="3937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4141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边界与表面质量</a:t>
            </a:r>
            <a:endParaRPr lang="zh-CN" altLang="en-US" sz="2100" b="1">
              <a:solidFill>
                <a:srgbClr val="14141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84900" y="2832100"/>
            <a:ext cx="3886200" cy="119951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</a:rPr>
              <a:t>· Boundary IoU</a:t>
            </a:r>
            <a:endParaRPr lang="en-US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</a:rPr>
              <a:t>· Boundary F1</a:t>
            </a:r>
            <a:endParaRPr lang="en-US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</a:rPr>
              <a:t>· Surface Dice 2px / 5px</a:t>
            </a:r>
            <a:endParaRPr lang="en-US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</a:rPr>
              <a:t>· HD95 / ASSD</a:t>
            </a:r>
            <a:endParaRPr lang="en-US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049000" y="2095500"/>
            <a:ext cx="4445000" cy="48260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49000" y="2095500"/>
            <a:ext cx="76200" cy="4826000"/>
          </a:xfrm>
          <a:prstGeom prst="rect">
            <a:avLst/>
          </a:prstGeom>
          <a:solidFill>
            <a:srgbClr val="FF6B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328400" y="2324100"/>
            <a:ext cx="3937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41414"/>
                </a:solidFill>
                <a:latin typeface="Microsoft YaHei UI" panose="020B0503020204020204" charset="-122"/>
                <a:ea typeface="Microsoft YaHei UI" panose="020B0503020204020204" charset="-122"/>
              </a:rPr>
              <a:t>骨缝与解剖一致性</a:t>
            </a:r>
            <a:endParaRPr lang="zh-CN" altLang="en-US" sz="2100" b="1">
              <a:solidFill>
                <a:srgbClr val="14141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328400" y="2832100"/>
            <a:ext cx="3886200" cy="119951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gap-region FP rate</a:t>
            </a:r>
            <a:endParaRPr lang="en-US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component merge rate</a:t>
            </a:r>
            <a:endParaRPr lang="en-US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component count MAE</a:t>
            </a:r>
            <a:endParaRPr lang="en-US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定性检查过度腐蚀和漏分</a:t>
            </a:r>
            <a:endParaRPr lang="zh-CN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39800" y="7366000"/>
            <a:ext cx="13716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这套指标让拓扑思想落到骨骺任务：不是证明预测更黑或更细，而是证明骨缝分离更合理且骨结构仍完整。</a:t>
            </a:r>
            <a:endParaRPr lang="zh-CN" altLang="en-US" sz="2100" b="1">
              <a:solidFill>
                <a:srgbClr val="00000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9600" y="8763000"/>
            <a:ext cx="8890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YOLO+SAM Epiphysis Segmentation | Topology Borrowing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113000" y="8763000"/>
            <a:ext cx="508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6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406400"/>
            <a:ext cx="44450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1200" b="1">
                <a:solidFill>
                  <a:srgbClr val="5F5F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Topology Borrowing</a:t>
            </a:r>
            <a:endParaRPr lang="en-US" altLang="en-US" sz="1200" b="1">
              <a:solidFill>
                <a:srgbClr val="5F5F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838200"/>
            <a:ext cx="10795000" cy="5683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3400" b="1">
                <a:solidFill>
                  <a:srgbClr val="0A0A0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真正的瓶颈不是拓扑思想，而是安全选择</a:t>
            </a:r>
            <a:endParaRPr lang="zh-CN" altLang="en-US" sz="3400" b="1">
              <a:solidFill>
                <a:srgbClr val="0A0A0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600200"/>
            <a:ext cx="15036800" cy="19050"/>
          </a:xfrm>
          <a:prstGeom prst="rect">
            <a:avLst/>
          </a:prstGeom>
          <a:solidFill>
            <a:srgbClr val="BEBE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39800" y="2095500"/>
            <a:ext cx="66040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39800" y="2095500"/>
            <a:ext cx="76200" cy="4572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19200" y="2324100"/>
            <a:ext cx="6096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4141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已经成立的部分</a:t>
            </a:r>
            <a:endParaRPr lang="zh-CN" altLang="en-US" sz="2100" b="1">
              <a:solidFill>
                <a:srgbClr val="14141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19200" y="2832100"/>
            <a:ext cx="6045200" cy="119951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oracle-safe cut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能降低</a:t>
            </a: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gap FP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component count MAE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明显改善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Recall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可以保持不下降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说明背景连通目标方向是有价值的</a:t>
            </a:r>
            <a:endParaRPr lang="zh-CN" altLang="en-US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712200" y="2095500"/>
            <a:ext cx="66040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712200" y="2095500"/>
            <a:ext cx="76200" cy="45720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991600" y="2324100"/>
            <a:ext cx="60960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100" b="1">
                <a:solidFill>
                  <a:srgbClr val="14141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还没解决的部分</a:t>
            </a:r>
            <a:endParaRPr lang="zh-CN" altLang="en-US" sz="2100" b="1">
              <a:solidFill>
                <a:srgbClr val="14141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91600" y="2832100"/>
            <a:ext cx="6045200" cy="119951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600"/>
              </a:spcAft>
            </a:pPr>
            <a:r>
              <a:rPr lang="en-US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GT-free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规则会切到真实骨前景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scalar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特征无法区分安全骨缝与浅层骨切割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局部</a:t>
            </a: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crop scorer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仍被风险样本主导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·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还不能写</a:t>
            </a: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mask </a:t>
            </a:r>
            <a:r>
              <a:rPr lang="zh-CN" altLang="en-US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或上</a:t>
            </a:r>
            <a:r>
              <a:rPr lang="en-US" altLang="zh-CN" sz="1500">
                <a:solidFill>
                  <a:srgbClr val="37373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clean-test-v2</a:t>
            </a:r>
            <a:endParaRPr lang="en-US" altLang="zh-CN" sz="1500">
              <a:solidFill>
                <a:srgbClr val="37373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68400" y="7175500"/>
            <a:ext cx="13335000" cy="4457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sz="26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下一步必须提升选对</a:t>
            </a:r>
            <a:r>
              <a:rPr lang="en-US" altLang="zh-CN" sz="26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cut </a:t>
            </a:r>
            <a:r>
              <a:rPr lang="zh-CN" altLang="en-US" sz="2600" b="1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的能力，而不是继续扩大切割或放宽阈值。</a:t>
            </a:r>
            <a:endParaRPr lang="zh-CN" altLang="en-US" sz="2600" b="1">
              <a:solidFill>
                <a:srgbClr val="00000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9600" y="8763000"/>
            <a:ext cx="8890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YOLO+SAM Epiphysis Segmentation | Topology Borrowing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113000" y="8763000"/>
            <a:ext cx="5080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sz="900">
                <a:solidFill>
                  <a:srgbClr val="6E6E6E"/>
                </a:solidFill>
                <a:latin typeface="Microsoft YaHei UI" panose="020B0503020204020204" charset="-122"/>
                <a:ea typeface="Microsoft YaHei UI" panose="020B0503020204020204" charset="-122"/>
              </a:rPr>
              <a:t>9</a:t>
            </a:r>
            <a:endParaRPr lang="en-US" altLang="en-US" sz="900">
              <a:solidFill>
                <a:srgbClr val="6E6E6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1998</Words>
  <Application>WPS 演示</Application>
  <PresentationFormat>宽屏</PresentationFormat>
  <Paragraphs>189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Microsoft YaHei UI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12246</dc:creator>
  <cp:lastModifiedBy>沈泽宇</cp:lastModifiedBy>
  <cp:revision>158</cp:revision>
  <dcterms:created xsi:type="dcterms:W3CDTF">2019-06-19T02:08:00Z</dcterms:created>
  <dcterms:modified xsi:type="dcterms:W3CDTF">2026-07-09T12:32:09Z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FDC0AFDD62C24015999F271118BA91DA_11</vt:lpwstr>
  </property>
</Properties>
</file>